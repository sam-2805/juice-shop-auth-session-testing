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C613-D320-3A99-205B-374FD802A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D883C-1DAA-63D7-A615-F64EB7EBE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4CCB2-7107-F942-DEBF-4EEE62E2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63644-183A-6EF6-9168-3159CE83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29F19-E383-91D7-ECA6-ABB0A562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33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E4FE-0216-71DD-375A-F66AE0AD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2F65-DCE3-7AEA-F059-1F8AB460A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A0BBE-1349-B849-B257-59F76AF9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2D033-1BFA-8ED6-83B8-D724A9EB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ACFA-C82D-E3BA-F27C-E430E2A3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24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17BA-2879-8AF5-2320-DA510826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BAA20-F9B2-6AE4-6704-19F7DD63E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3C2A5-850A-21AF-9528-870F5B94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D72AA-29C1-D489-973A-9CD3BD7E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15E68-88F6-E3A3-36F8-337AF9C0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4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B7F8-0A8D-F640-8614-BE44BCB1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9F77-4044-27F6-A16A-AFCB955EB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29CE6-B0F6-3085-14B6-57FD5B4D9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10E46-0FE2-CF99-46D9-377B174C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64647-405B-12C1-C336-C18D3558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07725-2EEA-E13B-A5DD-9B85263B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54718-926C-A8E4-A205-1759D864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B191B-BD25-EB56-EAED-A01C1B2A5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F1AC4-FECD-B5D1-9F28-5988766EA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329E1-5BC7-BE53-8B21-C18C9CCE8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C7A04-0DF0-290F-5A27-5A8BBFB37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A25C6-2EF6-6BFA-5649-501E87F9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F33AC-BD52-66B1-B15A-0018D60A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5DA98-B6C4-1DA7-13DE-B9EB900E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840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5F66-3ADF-F26E-D650-929E7CA2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0096C-A348-57E1-A8F9-8C93C025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85DAC-49F2-A412-A084-3C5C09CA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0B381-7A63-F2A4-4518-65ADE128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34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03A78-7930-8529-B99C-496892D1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BAAAD-CBC2-B1DB-7ABF-945F998F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B73C5-C59F-63F9-8B33-67116234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7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A11F-1754-FA62-F6C7-AC299BDA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34B9A-104B-7EB5-6A1B-A9BFA097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9F66-0D08-4321-64B0-4CC6F3013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CC857-689C-1A9A-3179-181029FAF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BB4BD-B111-C8C4-986B-4A196FF9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317C0-6E2F-9CF1-51CE-F7DCC787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05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D3E5-4910-9456-CCA8-FACF20A2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104C8-908D-E264-C18F-B518EB202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8C1EA-8C4C-5BD3-E0A6-8155B03C6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44650-176D-1BE1-565A-1AE2DBF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3961F-A880-672E-5E96-4B4AE7DB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88002-7227-4EB2-2950-8A898D9D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4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BC01-D2CA-7531-86C3-0C55B408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D8827-9CCB-F434-3752-60C5390E6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6839-8F39-A8F9-E12D-0B18FB9F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DB6CD-DE0D-4AF0-AAE1-73718B80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EEC7-EA81-14DD-BCF2-CA83E926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6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C93ED-A4B8-D5BB-F577-FABBF4715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B5296-72C4-F39D-DE58-261D81BB6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2820-9431-0F04-E328-FAB0BE789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30DF1-D762-2EDC-49F2-09D8E0E4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52723-0757-EE57-E538-4F50DA0B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2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E9A7C0-67A0-5D78-3911-6F63B4C2B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E02A2-867F-04F4-F1BC-6136D4FA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48B3-0FD3-2119-3C61-75729E3EB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EA8A8-6887-431B-964A-57964B1411BC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5651-235C-8627-B78A-4AE82CB8A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D6759-98BC-53DC-FB34-F948DED24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B4E9F-C054-4DEE-BD3A-12768483D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2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9825-DC0F-1942-DF8A-C69E8907B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8057" y="185057"/>
            <a:ext cx="6858001" cy="3070905"/>
          </a:xfrm>
        </p:spPr>
        <p:txBody>
          <a:bodyPr>
            <a:normAutofit/>
          </a:bodyPr>
          <a:lstStyle/>
          <a:p>
            <a:r>
              <a:rPr lang="en-US" sz="4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Understanding CVE-2025-2111: CSRF in WordPress Plugin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21C29-C615-8022-5414-332BEBD9D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2858" y="2721429"/>
            <a:ext cx="6553200" cy="2329542"/>
          </a:xfrm>
        </p:spPr>
        <p:txBody>
          <a:bodyPr/>
          <a:lstStyle/>
          <a:p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explores CVE-2025-2111, a significant Cross-Site Request Forgery (CSRF) vulnerability discovered within the Insert Headers And Footers WordPress plugin. It includes the vulnerability's potential impacts, effective mitigation strategies, and valuable lessons learned from the case</a:t>
            </a:r>
            <a:r>
              <a:rPr lang="en-US" dirty="0"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endParaRPr lang="en-US" dirty="0"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Samiksha Morshe</a:t>
            </a:r>
            <a:endParaRPr lang="en-US" sz="1600" dirty="0"/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2C9F853-8E54-C45A-54FB-9B72AB69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63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B73B-20E3-AD7A-3F44-66DBEA14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424543"/>
            <a:ext cx="11669486" cy="1262743"/>
          </a:xfrm>
        </p:spPr>
        <p:txBody>
          <a:bodyPr>
            <a:noAutofit/>
          </a:bodyPr>
          <a:lstStyle/>
          <a:p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Understanding the Insert Headers And Footers Plugin</a:t>
            </a:r>
            <a:br>
              <a:rPr lang="en-US" sz="4450" dirty="0"/>
            </a:br>
            <a:endParaRPr lang="en-IN" sz="44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A484-C9C6-1CDE-28C4-8ECEA946F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315"/>
            <a:ext cx="10515600" cy="3701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comprehensive overview of a key WordPress plugin for site customization</a:t>
            </a:r>
            <a:endParaRPr lang="en-US" sz="2200" dirty="0"/>
          </a:p>
          <a:p>
            <a:endParaRPr lang="en-IN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0B602EC-FE94-0CEF-F33A-E28973BAC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432839"/>
            <a:ext cx="5001034" cy="1045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FB087B-24FE-2582-4C53-AD6F1DC7C103}"/>
              </a:ext>
            </a:extLst>
          </p:cNvPr>
          <p:cNvSpPr txBox="1"/>
          <p:nvPr/>
        </p:nvSpPr>
        <p:spPr>
          <a:xfrm>
            <a:off x="793790" y="2656114"/>
            <a:ext cx="6096000" cy="421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Widely used WordPress plugin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75D42-F2E5-605A-B99C-104CFBEB071C}"/>
              </a:ext>
            </a:extLst>
          </p:cNvPr>
          <p:cNvSpPr txBox="1"/>
          <p:nvPr/>
        </p:nvSpPr>
        <p:spPr>
          <a:xfrm>
            <a:off x="6397178" y="2646368"/>
            <a:ext cx="6096000" cy="43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50"/>
              </a:lnSpc>
            </a:pPr>
            <a:r>
              <a:rPr lang="en-US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 JavaScript/CSS integration</a:t>
            </a:r>
            <a:endParaRPr lang="en-US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AF13BD24-C08F-EFAE-0487-2ABBB7E0D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397178" y="2383970"/>
            <a:ext cx="5634402" cy="1263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16325D-838D-0022-D35D-9A66ADFB0F6A}"/>
              </a:ext>
            </a:extLst>
          </p:cNvPr>
          <p:cNvSpPr txBox="1"/>
          <p:nvPr/>
        </p:nvSpPr>
        <p:spPr>
          <a:xfrm>
            <a:off x="6733674" y="3147737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add code snippets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B9F1A6-EF20-0669-0A6D-FB3C2EC36D6E}"/>
              </a:ext>
            </a:extLst>
          </p:cNvPr>
          <p:cNvSpPr txBox="1"/>
          <p:nvPr/>
        </p:nvSpPr>
        <p:spPr>
          <a:xfrm>
            <a:off x="1126959" y="3071902"/>
            <a:ext cx="6489030" cy="43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 among site admins</a:t>
            </a:r>
            <a:endParaRPr lang="en-US" sz="1800" dirty="0"/>
          </a:p>
        </p:txBody>
      </p:sp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4DA0D64C-8454-BFA5-AD20-2F6F8AC7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9" y="4300512"/>
            <a:ext cx="5011425" cy="95349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84F545C0-5B54-1DF7-F3B4-7420AB845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569" y="5311277"/>
            <a:ext cx="680442" cy="680442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5FC4FF17-98AF-B3DD-81ED-D308F816E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614" y="5624393"/>
            <a:ext cx="272177" cy="340162"/>
          </a:xfrm>
          <a:prstGeom prst="rect">
            <a:avLst/>
          </a:prstGeom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08C67CC9-B9B7-6443-9DAD-0E64A8E17D3A}"/>
              </a:ext>
            </a:extLst>
          </p:cNvPr>
          <p:cNvSpPr/>
          <p:nvPr/>
        </p:nvSpPr>
        <p:spPr>
          <a:xfrm>
            <a:off x="838200" y="4612737"/>
            <a:ext cx="3299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Analytics tracking setup</a:t>
            </a:r>
            <a:endParaRPr lang="en-US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AA58E01-98D1-795D-3040-83AC68288CB9}"/>
              </a:ext>
            </a:extLst>
          </p:cNvPr>
          <p:cNvSpPr/>
          <p:nvPr/>
        </p:nvSpPr>
        <p:spPr>
          <a:xfrm>
            <a:off x="1126959" y="509873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analytics integration.</a:t>
            </a:r>
            <a:endParaRPr lang="en-US" sz="1750" dirty="0"/>
          </a:p>
        </p:txBody>
      </p:sp>
      <p:pic>
        <p:nvPicPr>
          <p:cNvPr id="21" name="Image 9" descr="preencoded.png">
            <a:extLst>
              <a:ext uri="{FF2B5EF4-FFF2-40B4-BE49-F238E27FC236}">
                <a16:creationId xmlns:a16="http://schemas.microsoft.com/office/drawing/2014/main" id="{29A0BAD5-CF2C-CD91-6807-7D866A6C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178" y="4265113"/>
            <a:ext cx="5634402" cy="107200"/>
          </a:xfrm>
          <a:prstGeom prst="rect">
            <a:avLst/>
          </a:prstGeom>
        </p:spPr>
      </p:pic>
      <p:pic>
        <p:nvPicPr>
          <p:cNvPr id="22" name="Image 10" descr="preencoded.png">
            <a:extLst>
              <a:ext uri="{FF2B5EF4-FFF2-40B4-BE49-F238E27FC236}">
                <a16:creationId xmlns:a16="http://schemas.microsoft.com/office/drawing/2014/main" id="{874E95FA-68A3-7B47-C42E-287C921DC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106" y="5227558"/>
            <a:ext cx="680442" cy="680442"/>
          </a:xfrm>
          <a:prstGeom prst="rect">
            <a:avLst/>
          </a:prstGeom>
        </p:spPr>
      </p:pic>
      <p:pic>
        <p:nvPicPr>
          <p:cNvPr id="23" name="Image 11" descr="preencoded.png">
            <a:extLst>
              <a:ext uri="{FF2B5EF4-FFF2-40B4-BE49-F238E27FC236}">
                <a16:creationId xmlns:a16="http://schemas.microsoft.com/office/drawing/2014/main" id="{C5BDBAD3-6627-12AB-2102-7B2B8E888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6371" y="5624393"/>
            <a:ext cx="272177" cy="340162"/>
          </a:xfrm>
          <a:prstGeom prst="rect">
            <a:avLst/>
          </a:prstGeom>
        </p:spPr>
      </p:pic>
      <p:sp>
        <p:nvSpPr>
          <p:cNvPr id="24" name="Text 8">
            <a:extLst>
              <a:ext uri="{FF2B5EF4-FFF2-40B4-BE49-F238E27FC236}">
                <a16:creationId xmlns:a16="http://schemas.microsoft.com/office/drawing/2014/main" id="{55A33259-A4D3-86ED-370C-3F8EB203CC1D}"/>
              </a:ext>
            </a:extLst>
          </p:cNvPr>
          <p:cNvSpPr/>
          <p:nvPr/>
        </p:nvSpPr>
        <p:spPr>
          <a:xfrm>
            <a:off x="6551151" y="4635445"/>
            <a:ext cx="33067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Quick site customization</a:t>
            </a:r>
            <a:endParaRPr lang="en-US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F8781F4-A834-376E-C48A-B82008834C89}"/>
              </a:ext>
            </a:extLst>
          </p:cNvPr>
          <p:cNvSpPr/>
          <p:nvPr/>
        </p:nvSpPr>
        <p:spPr>
          <a:xfrm>
            <a:off x="6889790" y="507336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theme file edits needed.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59306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DC6A0B-99AD-869B-F322-E093E2A7DB01}"/>
              </a:ext>
            </a:extLst>
          </p:cNvPr>
          <p:cNvSpPr/>
          <p:nvPr/>
        </p:nvSpPr>
        <p:spPr>
          <a:xfrm>
            <a:off x="496354" y="112216"/>
            <a:ext cx="9908857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Vulnerability Summary of CSRF in Plugin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3BCC3B-B97A-6626-C8D2-002D6625DABF}"/>
              </a:ext>
            </a:extLst>
          </p:cNvPr>
          <p:cNvSpPr/>
          <p:nvPr/>
        </p:nvSpPr>
        <p:spPr>
          <a:xfrm>
            <a:off x="687943" y="868738"/>
            <a:ext cx="13208794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overview of CSRF vulnerability in Insert Headers And Footers Plugin version 3.1.1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B763C4-235B-A2BF-217E-50EF4DA73EA3}"/>
              </a:ext>
            </a:extLst>
          </p:cNvPr>
          <p:cNvSpPr/>
          <p:nvPr/>
        </p:nvSpPr>
        <p:spPr>
          <a:xfrm>
            <a:off x="745093" y="1339227"/>
            <a:ext cx="5514194" cy="1540669"/>
          </a:xfrm>
          <a:prstGeom prst="roundRect">
            <a:avLst>
              <a:gd name="adj" fmla="val 7122"/>
            </a:avLst>
          </a:prstGeom>
          <a:noFill/>
          <a:ln w="22860">
            <a:solidFill>
              <a:srgbClr val="CFD2D8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D352E60-C8A5-CEAF-F3F7-0CA4E02F5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81" y="1339227"/>
            <a:ext cx="91440" cy="1540669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411C9D5-1F5E-AEF8-FDC9-D285AC020541}"/>
              </a:ext>
            </a:extLst>
          </p:cNvPr>
          <p:cNvSpPr/>
          <p:nvPr/>
        </p:nvSpPr>
        <p:spPr>
          <a:xfrm>
            <a:off x="779383" y="1376647"/>
            <a:ext cx="328672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Type of Vulnerability: CSRF</a:t>
            </a:r>
            <a:endParaRPr lang="en-US" sz="19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AD05C9-9AE0-6606-B2B4-8AA470B3E9C0}"/>
              </a:ext>
            </a:extLst>
          </p:cNvPr>
          <p:cNvSpPr/>
          <p:nvPr/>
        </p:nvSpPr>
        <p:spPr>
          <a:xfrm>
            <a:off x="779384" y="1732691"/>
            <a:ext cx="521864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vulnerability identified is a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Cross-Site Request Forgery (CSRF)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exploits website trust and user actions.</a:t>
            </a:r>
            <a:endParaRPr lang="en-US" sz="15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DD6C203-9F4C-2724-4022-29CC16F2576D}"/>
              </a:ext>
            </a:extLst>
          </p:cNvPr>
          <p:cNvSpPr/>
          <p:nvPr/>
        </p:nvSpPr>
        <p:spPr>
          <a:xfrm>
            <a:off x="6509062" y="1324260"/>
            <a:ext cx="5606738" cy="1540669"/>
          </a:xfrm>
          <a:prstGeom prst="roundRect">
            <a:avLst>
              <a:gd name="adj" fmla="val 7122"/>
            </a:avLst>
          </a:prstGeom>
          <a:noFill/>
          <a:ln w="22860">
            <a:solidFill>
              <a:srgbClr val="CFD2D8"/>
            </a:solidFill>
            <a:prstDash val="solid"/>
          </a:ln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7B45F98D-1554-8807-7B7B-D8E85C000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342" y="1376647"/>
            <a:ext cx="91440" cy="1540669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D4473623-FA82-A44F-87E6-D86F577094B3}"/>
              </a:ext>
            </a:extLst>
          </p:cNvPr>
          <p:cNvSpPr/>
          <p:nvPr/>
        </p:nvSpPr>
        <p:spPr>
          <a:xfrm>
            <a:off x="6600502" y="1364247"/>
            <a:ext cx="3417332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Issue: Nonce Validation</a:t>
            </a:r>
            <a:endParaRPr lang="en-US" sz="19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C48012A-8953-3E50-B104-04D08DFC0FE8}"/>
              </a:ext>
            </a:extLst>
          </p:cNvPr>
          <p:cNvSpPr/>
          <p:nvPr/>
        </p:nvSpPr>
        <p:spPr>
          <a:xfrm>
            <a:off x="6600503" y="1698676"/>
            <a:ext cx="541132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primary issue lies in the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nonce validation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function custom_plugin_set_option, which is crucial for security.</a:t>
            </a:r>
            <a:endParaRPr lang="en-US" sz="15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DF61A16-9684-4BCA-2B9C-031EEF5CB02F}"/>
              </a:ext>
            </a:extLst>
          </p:cNvPr>
          <p:cNvSpPr/>
          <p:nvPr/>
        </p:nvSpPr>
        <p:spPr>
          <a:xfrm>
            <a:off x="710804" y="3152775"/>
            <a:ext cx="5548484" cy="1540669"/>
          </a:xfrm>
          <a:prstGeom prst="roundRect">
            <a:avLst>
              <a:gd name="adj" fmla="val 7122"/>
            </a:avLst>
          </a:prstGeom>
          <a:noFill/>
          <a:ln w="22860">
            <a:solidFill>
              <a:srgbClr val="CFD2D8"/>
            </a:solidFill>
            <a:prstDash val="solid"/>
          </a:ln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B11022ED-DA6F-43F1-A9D3-33D9365B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01" y="3168253"/>
            <a:ext cx="91440" cy="1540669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C28C7DD0-C0E1-4A7A-148D-0619AF448829}"/>
              </a:ext>
            </a:extLst>
          </p:cNvPr>
          <p:cNvSpPr/>
          <p:nvPr/>
        </p:nvSpPr>
        <p:spPr>
          <a:xfrm>
            <a:off x="779383" y="3168253"/>
            <a:ext cx="3122652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 on Administration</a:t>
            </a:r>
            <a:endParaRPr lang="en-US" sz="19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FC1D625-9F9B-65D9-76B6-B224AFD4CB54}"/>
              </a:ext>
            </a:extLst>
          </p:cNvPr>
          <p:cNvSpPr/>
          <p:nvPr/>
        </p:nvSpPr>
        <p:spPr>
          <a:xfrm>
            <a:off x="773251" y="3500676"/>
            <a:ext cx="5322749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successfully exploited, the attacker can perform actions as an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compromising the integrity of the site.</a:t>
            </a:r>
            <a:endParaRPr lang="en-US" sz="155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DCA08604-1A60-A3D4-0533-1AB08DCEB667}"/>
              </a:ext>
            </a:extLst>
          </p:cNvPr>
          <p:cNvSpPr/>
          <p:nvPr/>
        </p:nvSpPr>
        <p:spPr>
          <a:xfrm>
            <a:off x="6462290" y="3161210"/>
            <a:ext cx="5653510" cy="1540669"/>
          </a:xfrm>
          <a:prstGeom prst="roundRect">
            <a:avLst>
              <a:gd name="adj" fmla="val 7122"/>
            </a:avLst>
          </a:prstGeom>
          <a:noFill/>
          <a:ln w="22860">
            <a:solidFill>
              <a:srgbClr val="CFD2D8"/>
            </a:solidFill>
            <a:prstDash val="solid"/>
          </a:ln>
        </p:spPr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D30707B9-A249-AE9B-6A95-0B1DB94E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290" y="3168253"/>
            <a:ext cx="91440" cy="1540669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5CB58C10-1E51-3811-95B8-2F56ADCAD9EC}"/>
              </a:ext>
            </a:extLst>
          </p:cNvPr>
          <p:cNvSpPr/>
          <p:nvPr/>
        </p:nvSpPr>
        <p:spPr>
          <a:xfrm>
            <a:off x="6600502" y="3222157"/>
            <a:ext cx="3396853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Affected Versions: Up to 3.1.1</a:t>
            </a:r>
            <a:endParaRPr lang="en-US" sz="19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DCC64531-4BAC-0A19-1E9D-E986A2C48C0C}"/>
              </a:ext>
            </a:extLst>
          </p:cNvPr>
          <p:cNvSpPr/>
          <p:nvPr/>
        </p:nvSpPr>
        <p:spPr>
          <a:xfrm>
            <a:off x="6600502" y="3564147"/>
            <a:ext cx="5360235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vulnerability affects all versions of the plugin that are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3.1.1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lower, making them susceptible to attacks.</a:t>
            </a:r>
            <a:endParaRPr lang="en-US" sz="15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FDACCEB-1010-71CE-CA7D-AF382E06EBDF}"/>
              </a:ext>
            </a:extLst>
          </p:cNvPr>
          <p:cNvSpPr/>
          <p:nvPr/>
        </p:nvSpPr>
        <p:spPr>
          <a:xfrm>
            <a:off x="699374" y="5009554"/>
            <a:ext cx="5559914" cy="1540669"/>
          </a:xfrm>
          <a:prstGeom prst="roundRect">
            <a:avLst>
              <a:gd name="adj" fmla="val 7122"/>
            </a:avLst>
          </a:prstGeom>
          <a:noFill/>
          <a:ln w="22860">
            <a:solidFill>
              <a:srgbClr val="CFD2D8"/>
            </a:solidFill>
            <a:prstDash val="solid"/>
          </a:ln>
        </p:spPr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91409DD8-161D-EE6A-BA9A-9D259406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3" y="5075616"/>
            <a:ext cx="91440" cy="1540669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6E767398-15AE-5209-F7FE-CA654D99A96F}"/>
              </a:ext>
            </a:extLst>
          </p:cNvPr>
          <p:cNvSpPr/>
          <p:nvPr/>
        </p:nvSpPr>
        <p:spPr>
          <a:xfrm>
            <a:off x="790813" y="5056466"/>
            <a:ext cx="2759273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Potential Attack Vector</a:t>
            </a:r>
            <a:endParaRPr lang="en-US" sz="19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2F1152B-668A-CCFC-682D-769C699CC68F}"/>
              </a:ext>
            </a:extLst>
          </p:cNvPr>
          <p:cNvSpPr/>
          <p:nvPr/>
        </p:nvSpPr>
        <p:spPr>
          <a:xfrm>
            <a:off x="784681" y="5312613"/>
            <a:ext cx="5213349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can exploit this vulnerability by luring admins into clicking a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malicious link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triggering unauthorized actions.</a:t>
            </a:r>
            <a:endParaRPr lang="en-US" sz="155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F26B5905-BCC5-44C1-FB4D-BFFAE4DE6B8D}"/>
              </a:ext>
            </a:extLst>
          </p:cNvPr>
          <p:cNvSpPr/>
          <p:nvPr/>
        </p:nvSpPr>
        <p:spPr>
          <a:xfrm>
            <a:off x="6462290" y="5016597"/>
            <a:ext cx="5653510" cy="1540669"/>
          </a:xfrm>
          <a:prstGeom prst="roundRect">
            <a:avLst>
              <a:gd name="adj" fmla="val 7122"/>
            </a:avLst>
          </a:prstGeom>
          <a:noFill/>
          <a:ln w="22860">
            <a:solidFill>
              <a:srgbClr val="CFD2D8"/>
            </a:solidFill>
            <a:prstDash val="solid"/>
          </a:ln>
        </p:spPr>
      </p:sp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0D4F78B4-3964-41AD-6000-827531773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290" y="5056466"/>
            <a:ext cx="91440" cy="1540669"/>
          </a:xfrm>
          <a:prstGeom prst="rect">
            <a:avLst/>
          </a:prstGeom>
        </p:spPr>
      </p:pic>
      <p:sp>
        <p:nvSpPr>
          <p:cNvPr id="26" name="Text 18">
            <a:extLst>
              <a:ext uri="{FF2B5EF4-FFF2-40B4-BE49-F238E27FC236}">
                <a16:creationId xmlns:a16="http://schemas.microsoft.com/office/drawing/2014/main" id="{FD8A80AA-A1FB-A379-70F6-E55AE343C975}"/>
              </a:ext>
            </a:extLst>
          </p:cNvPr>
          <p:cNvSpPr/>
          <p:nvPr/>
        </p:nvSpPr>
        <p:spPr>
          <a:xfrm>
            <a:off x="6600502" y="5070501"/>
            <a:ext cx="2538651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Mitigation Strategies</a:t>
            </a:r>
            <a:endParaRPr lang="en-US" sz="195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4CCA9F13-35FC-FD86-7D82-EEE01F028B0A}"/>
              </a:ext>
            </a:extLst>
          </p:cNvPr>
          <p:cNvSpPr/>
          <p:nvPr/>
        </p:nvSpPr>
        <p:spPr>
          <a:xfrm>
            <a:off x="6600502" y="5428369"/>
            <a:ext cx="5982653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protect against this CSRF vulnerability, implementing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nonce validation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user action confirmations is essential.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92033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1F5A0C-7032-3CBD-9374-3AC425C9A56A}"/>
              </a:ext>
            </a:extLst>
          </p:cNvPr>
          <p:cNvSpPr/>
          <p:nvPr/>
        </p:nvSpPr>
        <p:spPr>
          <a:xfrm>
            <a:off x="391970" y="182583"/>
            <a:ext cx="7787164" cy="573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 of Vulnerability Exploitation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774399-6EFF-FD93-9DE4-03DB77C91733}"/>
              </a:ext>
            </a:extLst>
          </p:cNvPr>
          <p:cNvSpPr/>
          <p:nvPr/>
        </p:nvSpPr>
        <p:spPr>
          <a:xfrm>
            <a:off x="558657" y="950118"/>
            <a:ext cx="745378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Understanding the Consequences of a High CVSS Score Vulnerability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4FD984-73AD-DCCE-3369-3BE056249E71}"/>
              </a:ext>
            </a:extLst>
          </p:cNvPr>
          <p:cNvSpPr/>
          <p:nvPr/>
        </p:nvSpPr>
        <p:spPr>
          <a:xfrm>
            <a:off x="0" y="1555076"/>
            <a:ext cx="3164324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—</a:t>
            </a:r>
            <a:endParaRPr lang="en-US" sz="4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7D1AB7-5FE8-3E6C-7E3A-C7D02DBC9C90}"/>
              </a:ext>
            </a:extLst>
          </p:cNvPr>
          <p:cNvSpPr/>
          <p:nvPr/>
        </p:nvSpPr>
        <p:spPr>
          <a:xfrm>
            <a:off x="558657" y="2013354"/>
            <a:ext cx="2294334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 CVSS Score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21D897-E5A2-0297-6CEF-6D94253E3430}"/>
              </a:ext>
            </a:extLst>
          </p:cNvPr>
          <p:cNvSpPr/>
          <p:nvPr/>
        </p:nvSpPr>
        <p:spPr>
          <a:xfrm>
            <a:off x="123662" y="2646401"/>
            <a:ext cx="3164324" cy="117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CVSS score of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7.5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indicates a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severity vulnerability that requires immediate attention to prevent exploitation and potential damage.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6CDDE9-00FA-AB59-BB93-5DBBB2324759}"/>
              </a:ext>
            </a:extLst>
          </p:cNvPr>
          <p:cNvSpPr/>
          <p:nvPr/>
        </p:nvSpPr>
        <p:spPr>
          <a:xfrm>
            <a:off x="4304926" y="1555502"/>
            <a:ext cx="3164324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—</a:t>
            </a:r>
            <a:endParaRPr lang="en-US" sz="4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81BD73-50BC-7B6D-9109-240791FBAD01}"/>
              </a:ext>
            </a:extLst>
          </p:cNvPr>
          <p:cNvSpPr/>
          <p:nvPr/>
        </p:nvSpPr>
        <p:spPr>
          <a:xfrm>
            <a:off x="4405294" y="2022270"/>
            <a:ext cx="3164324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 Risk: Entire Site Takeover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260A6C-BC65-3B33-913C-868CD48B392C}"/>
              </a:ext>
            </a:extLst>
          </p:cNvPr>
          <p:cNvSpPr/>
          <p:nvPr/>
        </p:nvSpPr>
        <p:spPr>
          <a:xfrm>
            <a:off x="4513838" y="2623493"/>
            <a:ext cx="3164324" cy="117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significant risk is the potential for an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entire site takeover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a single link click, endangering all users and data.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3D1846A-E25F-35B4-17FB-42DCD83408D2}"/>
              </a:ext>
            </a:extLst>
          </p:cNvPr>
          <p:cNvSpPr/>
          <p:nvPr/>
        </p:nvSpPr>
        <p:spPr>
          <a:xfrm>
            <a:off x="8273407" y="1551034"/>
            <a:ext cx="3164324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—</a:t>
            </a:r>
            <a:endParaRPr lang="en-US" sz="4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4A0FDF-C9C2-1A4A-E7FF-3B54E3BF6CB2}"/>
              </a:ext>
            </a:extLst>
          </p:cNvPr>
          <p:cNvSpPr/>
          <p:nvPr/>
        </p:nvSpPr>
        <p:spPr>
          <a:xfrm>
            <a:off x="8471527" y="2075495"/>
            <a:ext cx="2966204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 Admin Access Granted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4665B6-68B4-BB76-BD54-84DC09255460}"/>
              </a:ext>
            </a:extLst>
          </p:cNvPr>
          <p:cNvSpPr/>
          <p:nvPr/>
        </p:nvSpPr>
        <p:spPr>
          <a:xfrm>
            <a:off x="8372467" y="2555084"/>
            <a:ext cx="3164324" cy="117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attacker can gain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admin access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the site, allowing them to manipulate content, settings, and sensitive data without restriction.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6D94E3-332A-A35B-4A77-EE14EDAC1373}"/>
              </a:ext>
            </a:extLst>
          </p:cNvPr>
          <p:cNvSpPr/>
          <p:nvPr/>
        </p:nvSpPr>
        <p:spPr>
          <a:xfrm>
            <a:off x="7322974" y="4128372"/>
            <a:ext cx="3164443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—</a:t>
            </a:r>
            <a:endParaRPr lang="en-US" sz="4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088219-3BD3-714C-B128-C189B335532F}"/>
              </a:ext>
            </a:extLst>
          </p:cNvPr>
          <p:cNvSpPr/>
          <p:nvPr/>
        </p:nvSpPr>
        <p:spPr>
          <a:xfrm>
            <a:off x="7289278" y="4590692"/>
            <a:ext cx="3164443" cy="54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Role Changes to Administrator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5D5D4B-41B9-4103-0B85-A6B3008C291C}"/>
              </a:ext>
            </a:extLst>
          </p:cNvPr>
          <p:cNvSpPr/>
          <p:nvPr/>
        </p:nvSpPr>
        <p:spPr>
          <a:xfrm>
            <a:off x="7289278" y="5252662"/>
            <a:ext cx="3164443" cy="117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exploited, this vulnerability can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default user role to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administrator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granting unauthorized users extensive control over the site.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EBFDC7-3919-9808-DA08-BB3AD5616956}"/>
              </a:ext>
            </a:extLst>
          </p:cNvPr>
          <p:cNvSpPr/>
          <p:nvPr/>
        </p:nvSpPr>
        <p:spPr>
          <a:xfrm>
            <a:off x="2042269" y="4212778"/>
            <a:ext cx="3164324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50"/>
              </a:lnSpc>
              <a:buNone/>
            </a:pPr>
            <a:r>
              <a:rPr lang="en-US" sz="4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—</a:t>
            </a:r>
            <a:endParaRPr lang="en-US" sz="4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B94F37B-0429-0F6D-7ACE-C8CC85D38826}"/>
              </a:ext>
            </a:extLst>
          </p:cNvPr>
          <p:cNvSpPr/>
          <p:nvPr/>
        </p:nvSpPr>
        <p:spPr>
          <a:xfrm>
            <a:off x="2321351" y="4590692"/>
            <a:ext cx="288524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Registration Enabled</a:t>
            </a: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A680C4E-9274-1468-A605-16B254460D0A}"/>
              </a:ext>
            </a:extLst>
          </p:cNvPr>
          <p:cNvSpPr/>
          <p:nvPr/>
        </p:nvSpPr>
        <p:spPr>
          <a:xfrm>
            <a:off x="2181810" y="5242182"/>
            <a:ext cx="3164324" cy="117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Exploitation allows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registration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can lead to malicious users gaining accounts and further compromising site security.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921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3CDCBC-794B-4DB9-D900-72B990BDB362}"/>
              </a:ext>
            </a:extLst>
          </p:cNvPr>
          <p:cNvSpPr/>
          <p:nvPr/>
        </p:nvSpPr>
        <p:spPr>
          <a:xfrm>
            <a:off x="107870" y="209312"/>
            <a:ext cx="119762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Understanding CSRF Through Practical Labs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BCB65B-62AC-1F9C-6627-97BBE6C01CCB}"/>
              </a:ext>
            </a:extLst>
          </p:cNvPr>
          <p:cNvSpPr/>
          <p:nvPr/>
        </p:nvSpPr>
        <p:spPr>
          <a:xfrm>
            <a:off x="793789" y="1093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Insights gained from hands-on experience with CSRF vulnerabilities and real-world applications</a:t>
            </a:r>
            <a:endParaRPr lang="en-US" sz="1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8A372B-951B-3794-5187-E547FAEB48C0}"/>
              </a:ext>
            </a:extLst>
          </p:cNvPr>
          <p:cNvSpPr/>
          <p:nvPr/>
        </p:nvSpPr>
        <p:spPr>
          <a:xfrm>
            <a:off x="793789" y="1843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DVWA CSRF Module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1E221-8987-BB9E-723B-9BE3A1972B4F}"/>
              </a:ext>
            </a:extLst>
          </p:cNvPr>
          <p:cNvSpPr/>
          <p:nvPr/>
        </p:nvSpPr>
        <p:spPr>
          <a:xfrm>
            <a:off x="809030" y="2362496"/>
            <a:ext cx="564184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DVWA CSRF Module highlighted how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Cross-Site Request Forgery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exploits the trust that a web application has in an authenticated user, enabling unauthorized actions.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A4656C-2459-B8AC-0CFA-051711BEAF49}"/>
              </a:ext>
            </a:extLst>
          </p:cNvPr>
          <p:cNvSpPr/>
          <p:nvPr/>
        </p:nvSpPr>
        <p:spPr>
          <a:xfrm>
            <a:off x="6871873" y="1823858"/>
            <a:ext cx="2862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Juice Shop Challenge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80F154F-7EF1-4DAC-FD35-19CE926C66F6}"/>
              </a:ext>
            </a:extLst>
          </p:cNvPr>
          <p:cNvSpPr/>
          <p:nvPr/>
        </p:nvSpPr>
        <p:spPr>
          <a:xfrm>
            <a:off x="6871874" y="2362496"/>
            <a:ext cx="51241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‘Make Admin’ challenge in Juice Shop showcased how role escalation can occur through crafted requests, emphasizing the importance of secure coding practices.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4C023D-4EBC-16D0-5E7E-56818F490306}"/>
              </a:ext>
            </a:extLst>
          </p:cNvPr>
          <p:cNvSpPr/>
          <p:nvPr/>
        </p:nvSpPr>
        <p:spPr>
          <a:xfrm>
            <a:off x="793789" y="4737439"/>
            <a:ext cx="109780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critical takeaway is that real-world CSRF attacks do not simply aim to steal cookies; they can target vital configuration endpoints, leading to severe security breaches.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71D8D19-BC0D-3D08-6401-42CB1BB9FB51}"/>
              </a:ext>
            </a:extLst>
          </p:cNvPr>
          <p:cNvSpPr/>
          <p:nvPr/>
        </p:nvSpPr>
        <p:spPr>
          <a:xfrm>
            <a:off x="684933" y="4601833"/>
            <a:ext cx="30480" cy="1236107"/>
          </a:xfrm>
          <a:prstGeom prst="rect">
            <a:avLst/>
          </a:prstGeom>
          <a:solidFill>
            <a:srgbClr val="3257B8"/>
          </a:solidFill>
          <a:ln/>
        </p:spPr>
      </p:sp>
    </p:spTree>
    <p:extLst>
      <p:ext uri="{BB962C8B-B14F-4D97-AF65-F5344CB8AC3E}">
        <p14:creationId xmlns:p14="http://schemas.microsoft.com/office/powerpoint/2010/main" val="1447611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5505F4-9E6C-DC5B-4035-D49F26E3305D}"/>
              </a:ext>
            </a:extLst>
          </p:cNvPr>
          <p:cNvSpPr/>
          <p:nvPr/>
        </p:nvSpPr>
        <p:spPr>
          <a:xfrm>
            <a:off x="677346" y="65366"/>
            <a:ext cx="13113068" cy="1354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Effective Mitigation Strategies for CSRF Vulnerabilities</a:t>
            </a:r>
            <a:endParaRPr lang="en-US" sz="4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1BF356-692C-EE85-F2EB-03E0D56E397F}"/>
              </a:ext>
            </a:extLst>
          </p:cNvPr>
          <p:cNvSpPr/>
          <p:nvPr/>
        </p:nvSpPr>
        <p:spPr>
          <a:xfrm>
            <a:off x="758666" y="1420297"/>
            <a:ext cx="13113068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Implementing robust security practices to protect against CSRF attacks and ensure application integrity</a:t>
            </a:r>
            <a:endParaRPr lang="en-US" sz="1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ECCFD8-FE73-690E-2F49-B20437ADED5F}"/>
              </a:ext>
            </a:extLst>
          </p:cNvPr>
          <p:cNvSpPr/>
          <p:nvPr/>
        </p:nvSpPr>
        <p:spPr>
          <a:xfrm>
            <a:off x="677346" y="1878714"/>
            <a:ext cx="5157397" cy="650319"/>
          </a:xfrm>
          <a:prstGeom prst="roundRect">
            <a:avLst>
              <a:gd name="adj" fmla="val 480041"/>
            </a:avLst>
          </a:prstGeom>
          <a:solidFill>
            <a:srgbClr val="E9ECF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693BDF-9561-9552-F333-45F24EF824B5}"/>
              </a:ext>
            </a:extLst>
          </p:cNvPr>
          <p:cNvSpPr/>
          <p:nvPr/>
        </p:nvSpPr>
        <p:spPr>
          <a:xfrm>
            <a:off x="3093464" y="2027662"/>
            <a:ext cx="325160" cy="40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6F1948-7B87-D9B5-BEE7-A49F78E63D88}"/>
              </a:ext>
            </a:extLst>
          </p:cNvPr>
          <p:cNvSpPr/>
          <p:nvPr/>
        </p:nvSpPr>
        <p:spPr>
          <a:xfrm>
            <a:off x="1267819" y="2549273"/>
            <a:ext cx="365129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Patch Released: Version 3.1.2</a:t>
            </a:r>
            <a:endParaRPr lang="en-US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A67E96-9F63-B449-9643-81CF73CD4E80}"/>
              </a:ext>
            </a:extLst>
          </p:cNvPr>
          <p:cNvSpPr/>
          <p:nvPr/>
        </p:nvSpPr>
        <p:spPr>
          <a:xfrm>
            <a:off x="550817" y="2908246"/>
            <a:ext cx="604182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patch addresses the critical issue of </a:t>
            </a: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nonce validation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ensuring enhanced security against CSRF attacks.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364522-775E-021E-22F7-B8A944762543}"/>
              </a:ext>
            </a:extLst>
          </p:cNvPr>
          <p:cNvSpPr/>
          <p:nvPr/>
        </p:nvSpPr>
        <p:spPr>
          <a:xfrm>
            <a:off x="7233880" y="2539365"/>
            <a:ext cx="3592354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Restrict admin panel access</a:t>
            </a:r>
            <a:endParaRPr lang="en-US" sz="2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8CFE45-9D1D-F07F-B28C-FB444022CAC4}"/>
              </a:ext>
            </a:extLst>
          </p:cNvPr>
          <p:cNvSpPr/>
          <p:nvPr/>
        </p:nvSpPr>
        <p:spPr>
          <a:xfrm>
            <a:off x="6437437" y="2908246"/>
            <a:ext cx="5634820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 access to the </a:t>
            </a: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panel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authorized personnel only to mitigate potential security risks.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1D5017-C873-DA59-ED80-45F5ABA23A9E}"/>
              </a:ext>
            </a:extLst>
          </p:cNvPr>
          <p:cNvSpPr/>
          <p:nvPr/>
        </p:nvSpPr>
        <p:spPr>
          <a:xfrm>
            <a:off x="1301691" y="4865292"/>
            <a:ext cx="329696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CSRF tokens in forms</a:t>
            </a:r>
            <a:endParaRPr lang="en-US" sz="2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7E0874A-6551-B4E2-05A1-7FA5A9186411}"/>
              </a:ext>
            </a:extLst>
          </p:cNvPr>
          <p:cNvSpPr/>
          <p:nvPr/>
        </p:nvSpPr>
        <p:spPr>
          <a:xfrm>
            <a:off x="550817" y="5341193"/>
            <a:ext cx="604182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</a:t>
            </a: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CSRF tokens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(nonces) in all state-changing forms to prevent unauthorized requests effectively.</a:t>
            </a:r>
            <a:endParaRPr lang="en-US" sz="1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A31355B-2CD4-96B0-C081-98BDFDD73269}"/>
              </a:ext>
            </a:extLst>
          </p:cNvPr>
          <p:cNvSpPr/>
          <p:nvPr/>
        </p:nvSpPr>
        <p:spPr>
          <a:xfrm>
            <a:off x="7233880" y="4799334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 settings logs</a:t>
            </a:r>
            <a:endParaRPr lang="en-US" sz="2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FA8F734-B850-DC40-3AE5-7BF948B80597}"/>
              </a:ext>
            </a:extLst>
          </p:cNvPr>
          <p:cNvSpPr/>
          <p:nvPr/>
        </p:nvSpPr>
        <p:spPr>
          <a:xfrm>
            <a:off x="6592644" y="5243002"/>
            <a:ext cx="5272785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check </a:t>
            </a: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settings logs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any unexpected changes to quickly identify and respond to security incidents.</a:t>
            </a:r>
            <a:endParaRPr lang="en-US" sz="17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A230DC3C-7BFD-BAC4-5ABE-CBA976C8BF81}"/>
              </a:ext>
            </a:extLst>
          </p:cNvPr>
          <p:cNvSpPr/>
          <p:nvPr/>
        </p:nvSpPr>
        <p:spPr>
          <a:xfrm>
            <a:off x="6272604" y="1889046"/>
            <a:ext cx="5157397" cy="650319"/>
          </a:xfrm>
          <a:prstGeom prst="roundRect">
            <a:avLst>
              <a:gd name="adj" fmla="val 480041"/>
            </a:avLst>
          </a:prstGeom>
          <a:solidFill>
            <a:srgbClr val="E9ECF2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49612E9-147E-8614-5C60-C4D5EB82389F}"/>
              </a:ext>
            </a:extLst>
          </p:cNvPr>
          <p:cNvSpPr/>
          <p:nvPr/>
        </p:nvSpPr>
        <p:spPr>
          <a:xfrm>
            <a:off x="8805445" y="2046090"/>
            <a:ext cx="325160" cy="40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5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CB9EB79D-3ADA-22B3-DB6B-AF0503914457}"/>
              </a:ext>
            </a:extLst>
          </p:cNvPr>
          <p:cNvSpPr/>
          <p:nvPr/>
        </p:nvSpPr>
        <p:spPr>
          <a:xfrm>
            <a:off x="677345" y="4077805"/>
            <a:ext cx="5157397" cy="650319"/>
          </a:xfrm>
          <a:prstGeom prst="roundRect">
            <a:avLst>
              <a:gd name="adj" fmla="val 480041"/>
            </a:avLst>
          </a:prstGeom>
          <a:solidFill>
            <a:srgbClr val="E9ECF2"/>
          </a:solidFill>
          <a:ln/>
        </p:spPr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3843FA28-2838-1F7F-8F38-C0C2D3C151AE}"/>
              </a:ext>
            </a:extLst>
          </p:cNvPr>
          <p:cNvSpPr/>
          <p:nvPr/>
        </p:nvSpPr>
        <p:spPr>
          <a:xfrm>
            <a:off x="6272603" y="4044826"/>
            <a:ext cx="5157397" cy="650319"/>
          </a:xfrm>
          <a:prstGeom prst="roundRect">
            <a:avLst>
              <a:gd name="adj" fmla="val 480041"/>
            </a:avLst>
          </a:prstGeom>
          <a:solidFill>
            <a:srgbClr val="E9ECF2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10028B-6797-D2E2-FE2E-0A657E0A2306}"/>
              </a:ext>
            </a:extLst>
          </p:cNvPr>
          <p:cNvSpPr/>
          <p:nvPr/>
        </p:nvSpPr>
        <p:spPr>
          <a:xfrm>
            <a:off x="3093464" y="4318985"/>
            <a:ext cx="325160" cy="40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FC4D01-A3C8-3A7A-3C1B-5DBF675E56CF}"/>
              </a:ext>
            </a:extLst>
          </p:cNvPr>
          <p:cNvSpPr/>
          <p:nvPr/>
        </p:nvSpPr>
        <p:spPr>
          <a:xfrm>
            <a:off x="8805445" y="4199724"/>
            <a:ext cx="325160" cy="40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51033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5EC730-1FF6-03E4-5221-4A4AE8867EC2}"/>
              </a:ext>
            </a:extLst>
          </p:cNvPr>
          <p:cNvSpPr/>
          <p:nvPr/>
        </p:nvSpPr>
        <p:spPr>
          <a:xfrm>
            <a:off x="586961" y="202347"/>
            <a:ext cx="10717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If This Happened in a Real Application…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0D6E1C-E758-5964-9CF4-BAC0EC57E487}"/>
              </a:ext>
            </a:extLst>
          </p:cNvPr>
          <p:cNvSpPr/>
          <p:nvPr/>
        </p:nvSpPr>
        <p:spPr>
          <a:xfrm>
            <a:off x="902647" y="10472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real-world implications of CSRF vulnerabilities if left unpatched</a:t>
            </a:r>
            <a:endParaRPr lang="en-US" sz="17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06B6677-D04A-B7F9-02AF-DD3B963CD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5" y="1591568"/>
            <a:ext cx="5302210" cy="90725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95AE0B00-4C64-D3AF-91CF-AC2646A09DA1}"/>
              </a:ext>
            </a:extLst>
          </p:cNvPr>
          <p:cNvSpPr/>
          <p:nvPr/>
        </p:nvSpPr>
        <p:spPr>
          <a:xfrm>
            <a:off x="902647" y="2613686"/>
            <a:ext cx="4160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/>
              <a:t>Report the Vulnerability Immediately: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12F2FA-9BD8-1B1E-16A5-963B075E6111}"/>
              </a:ext>
            </a:extLst>
          </p:cNvPr>
          <p:cNvSpPr/>
          <p:nvPr/>
        </p:nvSpPr>
        <p:spPr>
          <a:xfrm>
            <a:off x="793790" y="3117915"/>
            <a:ext cx="51520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I’d document steps and report the issue through proper channels</a:t>
            </a:r>
            <a:r>
              <a:rPr lang="en-US" sz="1600" dirty="0"/>
              <a:t>.</a:t>
            </a: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9955ECCB-D5B5-6FEC-4CA7-6EB28107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78799"/>
            <a:ext cx="5573486" cy="90725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CBC0C3E4-211C-6D4F-7BA0-220D6D5D95DA}"/>
              </a:ext>
            </a:extLst>
          </p:cNvPr>
          <p:cNvSpPr/>
          <p:nvPr/>
        </p:nvSpPr>
        <p:spPr>
          <a:xfrm>
            <a:off x="7128597" y="2593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/>
              <a:t>Recommend Fixes: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3E5F0FB-472F-ABC6-3DE4-4E2C514D36F3}"/>
              </a:ext>
            </a:extLst>
          </p:cNvPr>
          <p:cNvSpPr/>
          <p:nvPr/>
        </p:nvSpPr>
        <p:spPr>
          <a:xfrm>
            <a:off x="6246157" y="3019737"/>
            <a:ext cx="5423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Suggest using CSRF tokens, validating headers, and setting </a:t>
            </a:r>
            <a:r>
              <a:rPr lang="en-US" sz="175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SameSite</a:t>
            </a:r>
            <a:r>
              <a:rPr lang="en-US" sz="17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cookies</a:t>
            </a:r>
            <a:r>
              <a:rPr lang="en-US" sz="1750" dirty="0">
                <a:solidFill>
                  <a:srgbClr val="1521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7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CF19494D-2519-5336-CDDB-A4241267C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5" y="4294094"/>
            <a:ext cx="5302210" cy="90725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F69AD8D-C452-43F2-65B8-89A1D18B9620}"/>
              </a:ext>
            </a:extLst>
          </p:cNvPr>
          <p:cNvSpPr/>
          <p:nvPr/>
        </p:nvSpPr>
        <p:spPr>
          <a:xfrm>
            <a:off x="1210083" y="5321538"/>
            <a:ext cx="43194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/>
              <a:t>Re-test After Patch:</a:t>
            </a:r>
            <a:endParaRPr lang="en-US" sz="2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D4E3267-E525-F6D0-749B-1F3ABC0AA56A}"/>
              </a:ext>
            </a:extLst>
          </p:cNvPr>
          <p:cNvSpPr/>
          <p:nvPr/>
        </p:nvSpPr>
        <p:spPr>
          <a:xfrm>
            <a:off x="793790" y="5749902"/>
            <a:ext cx="51520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Check if the issue is fixed and the attack no longer works</a:t>
            </a:r>
            <a:r>
              <a:rPr lang="en-US" sz="1600" dirty="0"/>
              <a:t>.</a:t>
            </a: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5F93B2A8-1EAB-98CE-96D0-F69709E6B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157" y="4294094"/>
            <a:ext cx="5423329" cy="90725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96C0F9D0-0630-140B-9BD3-6099F9E7E54E}"/>
              </a:ext>
            </a:extLst>
          </p:cNvPr>
          <p:cNvSpPr/>
          <p:nvPr/>
        </p:nvSpPr>
        <p:spPr>
          <a:xfrm>
            <a:off x="7128596" y="5321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/>
              <a:t>Enable Monitoring:</a:t>
            </a:r>
            <a:endParaRPr lang="en-US" sz="2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0ED9F73-3B16-FC7A-23F6-DF2A85D601A0}"/>
              </a:ext>
            </a:extLst>
          </p:cNvPr>
          <p:cNvSpPr/>
          <p:nvPr/>
        </p:nvSpPr>
        <p:spPr>
          <a:xfrm>
            <a:off x="6377242" y="5749901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 up logs and alerts for suspicious user actions.</a:t>
            </a:r>
          </a:p>
        </p:txBody>
      </p:sp>
    </p:spTree>
    <p:extLst>
      <p:ext uri="{BB962C8B-B14F-4D97-AF65-F5344CB8AC3E}">
        <p14:creationId xmlns:p14="http://schemas.microsoft.com/office/powerpoint/2010/main" val="42482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709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Roboto</vt:lpstr>
      <vt:lpstr>Roboto Slab</vt:lpstr>
      <vt:lpstr>Office Theme</vt:lpstr>
      <vt:lpstr>Understanding CVE-2025-2111: CSRF in WordPress Plugin </vt:lpstr>
      <vt:lpstr>Understanding the Insert Headers And Footers Plugin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Samiksha Morshe</dc:creator>
  <cp:lastModifiedBy>Samiksha Morshe</cp:lastModifiedBy>
  <cp:revision>1</cp:revision>
  <dcterms:created xsi:type="dcterms:W3CDTF">2025-07-17T10:52:18Z</dcterms:created>
  <dcterms:modified xsi:type="dcterms:W3CDTF">2025-07-17T11:11:42Z</dcterms:modified>
</cp:coreProperties>
</file>